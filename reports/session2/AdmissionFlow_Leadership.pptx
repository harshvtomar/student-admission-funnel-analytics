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48db9ac15d4b52" /><Relationship Type="http://schemas.openxmlformats.org/officeDocument/2006/relationships/extended-properties" Target="/docProps/app.xml" Id="Rbed91ed0a5ba4568" /><Relationship Type="http://schemas.openxmlformats.org/officeDocument/2006/relationships/officeDocument" Target="/ppt/presentation.xml" Id="R60edb982c26e44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293b5b051848d8"/>
  </p:sldMasterIdLst>
  <p:notesMasterIdLst>
    <p:notesMasterId xmlns:r="http://schemas.openxmlformats.org/officeDocument/2006/relationships" r:id="R0f9406061a904093"/>
  </p:notesMasterIdLst>
  <p:sldIdLst>
    <p:sldId xmlns:r="http://schemas.openxmlformats.org/officeDocument/2006/relationships" id="256" r:id="R6574e911ce3e455d"/>
    <p:sldId xmlns:r="http://schemas.openxmlformats.org/officeDocument/2006/relationships" id="257" r:id="R4bef3e3afe1c4256"/>
    <p:sldId xmlns:r="http://schemas.openxmlformats.org/officeDocument/2006/relationships" id="258" r:id="R54fcd875129a4690"/>
    <p:sldId xmlns:r="http://schemas.openxmlformats.org/officeDocument/2006/relationships" id="259" r:id="Rccc1e598bb6049cb"/>
    <p:sldId xmlns:r="http://schemas.openxmlformats.org/officeDocument/2006/relationships" id="260" r:id="R0372b121b8c547ac"/>
    <p:sldId xmlns:r="http://schemas.openxmlformats.org/officeDocument/2006/relationships" id="261" r:id="R83192263fd3e443e"/>
    <p:sldId xmlns:r="http://schemas.openxmlformats.org/officeDocument/2006/relationships" id="262" r:id="Rc90c743beb464e5a"/>
    <p:sldId xmlns:r="http://schemas.openxmlformats.org/officeDocument/2006/relationships" id="263" r:id="R98ad059abba045a4"/>
    <p:sldId xmlns:r="http://schemas.openxmlformats.org/officeDocument/2006/relationships" id="264" r:id="R13535893ee834d2d"/>
    <p:sldId xmlns:r="http://schemas.openxmlformats.org/officeDocument/2006/relationships" id="265" r:id="R0acdf2d9588444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ece2bdcde74b51" /><Relationship Type="http://schemas.openxmlformats.org/officeDocument/2006/relationships/slideMaster" Target="/ppt/slideMasters/slideMaster1.xml" Id="Rf3293b5b051848d8" /><Relationship Type="http://schemas.openxmlformats.org/officeDocument/2006/relationships/notesMaster" Target="/ppt/notesMasters/notesMaster1.xml" Id="R0f9406061a904093" /><Relationship Type="http://schemas.openxmlformats.org/officeDocument/2006/relationships/presProps" Target="/ppt/presProps.xml" Id="R0dc1c4e17e214181" /><Relationship Type="http://schemas.openxmlformats.org/officeDocument/2006/relationships/tableStyles" Target="/ppt/tableStyles.xml" Id="Ra64e8abb8f4e4ad0" /><Relationship Type="http://schemas.openxmlformats.org/officeDocument/2006/relationships/slide" Target="/ppt/slides/slide1.xml" Id="R6574e911ce3e455d" /><Relationship Type="http://schemas.openxmlformats.org/officeDocument/2006/relationships/slide" Target="/ppt/slides/slide2.xml" Id="R4bef3e3afe1c4256" /><Relationship Type="http://schemas.openxmlformats.org/officeDocument/2006/relationships/slide" Target="/ppt/slides/slide3.xml" Id="R54fcd875129a4690" /><Relationship Type="http://schemas.openxmlformats.org/officeDocument/2006/relationships/slide" Target="/ppt/slides/slide4.xml" Id="Rccc1e598bb6049cb" /><Relationship Type="http://schemas.openxmlformats.org/officeDocument/2006/relationships/slide" Target="/ppt/slides/slide5.xml" Id="R0372b121b8c547ac" /><Relationship Type="http://schemas.openxmlformats.org/officeDocument/2006/relationships/slide" Target="/ppt/slides/slide6.xml" Id="R83192263fd3e443e" /><Relationship Type="http://schemas.openxmlformats.org/officeDocument/2006/relationships/slide" Target="/ppt/slides/slide7.xml" Id="Rc90c743beb464e5a" /><Relationship Type="http://schemas.openxmlformats.org/officeDocument/2006/relationships/slide" Target="/ppt/slides/slide8.xml" Id="R98ad059abba045a4" /><Relationship Type="http://schemas.openxmlformats.org/officeDocument/2006/relationships/slide" Target="/ppt/slides/slide9.xml" Id="R13535893ee834d2d" /><Relationship Type="http://schemas.openxmlformats.org/officeDocument/2006/relationships/slide" Target="/ppt/slides/slide10.xml" Id="R0acdf2d9588444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86e596b37d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b02bfcb32c45f5" /><Relationship Type="http://schemas.openxmlformats.org/officeDocument/2006/relationships/notesMaster" Target="/ppt/notesMasters/notesMaster1.xml" Id="R89b8b2159f2e43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9058e2aec84e6b" /><Relationship Type="http://schemas.openxmlformats.org/officeDocument/2006/relationships/notesMaster" Target="/ppt/notesMasters/notesMaster1.xml" Id="R9359d60f68a541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2b430c13104aa7" /><Relationship Type="http://schemas.openxmlformats.org/officeDocument/2006/relationships/notesMaster" Target="/ppt/notesMasters/notesMaster1.xml" Id="R2707d733a48a49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2981ae6d4a4595" /><Relationship Type="http://schemas.openxmlformats.org/officeDocument/2006/relationships/notesMaster" Target="/ppt/notesMasters/notesMaster1.xml" Id="Rbc9184bb18f04f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917f2264054f31" /><Relationship Type="http://schemas.openxmlformats.org/officeDocument/2006/relationships/notesMaster" Target="/ppt/notesMasters/notesMaster1.xml" Id="R0b1211d6a1a141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ad07e3b8974e94" /><Relationship Type="http://schemas.openxmlformats.org/officeDocument/2006/relationships/notesMaster" Target="/ppt/notesMasters/notesMaster1.xml" Id="R4a4c976d589941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fb0494b4b049d1" /><Relationship Type="http://schemas.openxmlformats.org/officeDocument/2006/relationships/notesMaster" Target="/ppt/notesMasters/notesMaster1.xml" Id="Ra915d7fd23224d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997ad9aec14cd1" /><Relationship Type="http://schemas.openxmlformats.org/officeDocument/2006/relationships/notesMaster" Target="/ppt/notesMasters/notesMaster1.xml" Id="R8f2870ba5d2645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b9f0c92b7c421f" /><Relationship Type="http://schemas.openxmlformats.org/officeDocument/2006/relationships/notesMaster" Target="/ppt/notesMasters/notesMaster1.xml" Id="R824ac17264d34b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8b606d21a34620" /><Relationship Type="http://schemas.openxmlformats.org/officeDocument/2006/relationships/notesMaster" Target="/ppt/notesMasters/notesMaster1.xml" Id="Rf7f289202a7141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5bdcf86da47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ea378517347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8963eb1a34b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1e079d07c49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24592ace846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ff8605aec4d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1237A5-B5CB-4B34-8ED9-91D134F262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3DF9BD-D958-40B9-A59A-A69ECE3CE8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CC576A-54CC-4A51-BC85-7E31D30894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946377-03CC-4F6F-BEB5-96DBE54A92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21CCE4-429A-4399-B05B-F3AC19EF86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AE5FFA-85E7-4D36-ACF2-7AE921A7A1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FD3259-7E92-42B8-9E7E-8FF152A555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56BD35-D1E1-4537-AAAC-7476C6E4F6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786734-4C29-459E-A410-81F6D05EAE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F64713-C7E4-481F-9A5B-6788D5B387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3a389c77f44adc" /><Relationship Type="http://schemas.openxmlformats.org/officeDocument/2006/relationships/slideLayout" Target="/ppt/slideLayouts/slideLayout1.xml" Id="R53c1275247db4f8b" /><Relationship Type="http://schemas.openxmlformats.org/officeDocument/2006/relationships/slideLayout" Target="/ppt/slideLayouts/slideLayout2.xml" Id="R1c4bb99a10e541cd" /><Relationship Type="http://schemas.openxmlformats.org/officeDocument/2006/relationships/slideLayout" Target="/ppt/slideLayouts/slideLayout3.xml" Id="R5dee76a0a33c4627" /><Relationship Type="http://schemas.openxmlformats.org/officeDocument/2006/relationships/slideLayout" Target="/ppt/slideLayouts/slideLayout4.xml" Id="R054c7701cd5e493b" /><Relationship Type="http://schemas.openxmlformats.org/officeDocument/2006/relationships/slideLayout" Target="/ppt/slideLayouts/slideLayout5.xml" Id="R1d1d1cbd30ed490b" /><Relationship Type="http://schemas.openxmlformats.org/officeDocument/2006/relationships/slideLayout" Target="/ppt/slideLayouts/slideLayout6.xml" Id="R0a9a34f18ae046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c1275247db4f8b"/>
    <p:sldLayoutId xmlns:r="http://schemas.openxmlformats.org/officeDocument/2006/relationships" id="2147483650" r:id="R1c4bb99a10e541cd"/>
    <p:sldLayoutId xmlns:r="http://schemas.openxmlformats.org/officeDocument/2006/relationships" id="2147483651" r:id="R5dee76a0a33c4627"/>
    <p:sldLayoutId xmlns:r="http://schemas.openxmlformats.org/officeDocument/2006/relationships" id="2147483652" r:id="R054c7701cd5e493b"/>
    <p:sldLayoutId xmlns:r="http://schemas.openxmlformats.org/officeDocument/2006/relationships" id="2147483653" r:id="R1d1d1cbd30ed490b"/>
    <p:sldLayoutId xmlns:r="http://schemas.openxmlformats.org/officeDocument/2006/relationships" id="2147483654" r:id="R0a9a34f18ae046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df2a1e76d425f" /><Relationship Type="http://schemas.openxmlformats.org/officeDocument/2006/relationships/notesSlide" Target="/ppt/notesSlides/notesSlide1.xml" Id="R29c67a0601824a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745b18d1d40d4" /><Relationship Type="http://schemas.openxmlformats.org/officeDocument/2006/relationships/notesSlide" Target="/ppt/notesSlides/notesSlide2.xml" Id="Re26ad81803a848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642a759754de5" /><Relationship Type="http://schemas.openxmlformats.org/officeDocument/2006/relationships/chart" Target="/ppt/slides/charts/chart1.xml" Id="R8afcb8be5a584438" /><Relationship Type="http://schemas.openxmlformats.org/officeDocument/2006/relationships/notesSlide" Target="/ppt/notesSlides/notesSlide3.xml" Id="R44a4b9af129447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161d73b078483c" /><Relationship Type="http://schemas.openxmlformats.org/officeDocument/2006/relationships/chart" Target="/ppt/slides/charts/chart2.xml" Id="R94c92460b7284edb" /><Relationship Type="http://schemas.openxmlformats.org/officeDocument/2006/relationships/notesSlide" Target="/ppt/notesSlides/notesSlide4.xml" Id="R6a05b94859ab40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1229cb712493a" /><Relationship Type="http://schemas.openxmlformats.org/officeDocument/2006/relationships/notesSlide" Target="/ppt/notesSlides/notesSlide5.xml" Id="R8cb218b112944f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cb0b04e06420e" /><Relationship Type="http://schemas.openxmlformats.org/officeDocument/2006/relationships/chart" Target="/ppt/slides/charts/chart3.xml" Id="Re4378ce96bec4f00" /><Relationship Type="http://schemas.openxmlformats.org/officeDocument/2006/relationships/notesSlide" Target="/ppt/notesSlides/notesSlide6.xml" Id="R42a017efaebd45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caa6222024e53" /><Relationship Type="http://schemas.openxmlformats.org/officeDocument/2006/relationships/chart" Target="/ppt/slides/charts/chart4.xml" Id="Rdc223cfa6c834de8" /><Relationship Type="http://schemas.openxmlformats.org/officeDocument/2006/relationships/notesSlide" Target="/ppt/notesSlides/notesSlide7.xml" Id="Rcdcddb93233c4a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5264f1e9e4041" /><Relationship Type="http://schemas.openxmlformats.org/officeDocument/2006/relationships/chart" Target="/ppt/slides/charts/chart5.xml" Id="R9ac66f68974a4c45" /><Relationship Type="http://schemas.openxmlformats.org/officeDocument/2006/relationships/notesSlide" Target="/ppt/notesSlides/notesSlide8.xml" Id="R87a33efcca3b4d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6122954cf44b97" /><Relationship Type="http://schemas.openxmlformats.org/officeDocument/2006/relationships/notesSlide" Target="/ppt/notesSlides/notesSlide9.xml" Id="R10403da139394c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5c6603ba544bd" /><Relationship Type="http://schemas.openxmlformats.org/officeDocument/2006/relationships/notesSlide" Target="/ppt/notesSlides/notesSlide10.xml" Id="R3102c256a1b14c0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latin typeface="Nimbus Sans"/>
                <a:ea typeface="Nimbus Sans"/>
                <a:cs typeface="Nimbus Sans"/>
              </a:rPr>
              <a:t>Observed student outcomes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Nimbus Sans"/>
              <a:ea typeface="Nimbus Sans"/>
              <a:cs typeface="Nimbus Sans"/>
            </a:defRPr>
          </a:pPr>
        </a:p>
      </c:txPr>
    </c:title>
    <c:plotArea>
      <c:barChart>
        <c:barDir val="bar"/>
        <c:varyColors val="0"/>
        <c:ser>
          <c:idx val="0"/>
          <c:order val="0"/>
          <c:tx>
            <c:v>Observed student outcomes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Leads</c:v>
                </c:pt>
                <c:pt idx="1">
                  <c:v>Completed applications</c:v>
                </c:pt>
                <c:pt idx="2">
                  <c:v>Enrollments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50000</c:v>
                </c:pt>
                <c:pt idx="1">
                  <c:v>13792</c:v>
                </c:pt>
                <c:pt idx="2">
                  <c:v>5627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7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latin typeface="Nimbus Sans"/>
                <a:ea typeface="Nimbus Sans"/>
                <a:cs typeface="Nimbus Sans"/>
              </a:rPr>
              <a:t>Student progression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Nimbus Sans"/>
              <a:ea typeface="Nimbus Sans"/>
              <a:cs typeface="Nimbus Sans"/>
            </a:defRPr>
          </a:pPr>
        </a:p>
      </c:txPr>
    </c:title>
    <c:plotArea>
      <c:barChart>
        <c:barDir val="bar"/>
        <c:varyColors val="0"/>
        <c:ser>
          <c:idx val="0"/>
          <c:order val="0"/>
          <c:tx>
            <c:v>Student progression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Qualified</c:v>
                </c:pt>
                <c:pt idx="1">
                  <c:v>Started</c:v>
                </c:pt>
                <c:pt idx="2">
                  <c:v>Completed</c:v>
                </c:pt>
                <c:pt idx="3">
                  <c:v>Offers</c:v>
                </c:pt>
                <c:pt idx="4">
                  <c:v>Enrolled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29574</c:v>
                </c:pt>
                <c:pt idx="1">
                  <c:v>20115</c:v>
                </c:pt>
                <c:pt idx="2">
                  <c:v>13792</c:v>
                </c:pt>
                <c:pt idx="3">
                  <c:v>10213</c:v>
                </c:pt>
                <c:pt idx="4">
                  <c:v>5627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7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latin typeface="Nimbus Sans"/>
                <a:ea typeface="Nimbus Sans"/>
                <a:cs typeface="Nimbus Sans"/>
              </a:rPr>
              <a:t>Top five by observed enrollment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Nimbus Sans"/>
              <a:ea typeface="Nimbus Sans"/>
              <a:cs typeface="Nimbus Sans"/>
            </a:defRPr>
          </a:pPr>
        </a:p>
      </c:txPr>
    </c:title>
    <c:plotArea>
      <c:barChart>
        <c:barDir val="bar"/>
        <c:varyColors val="0"/>
        <c:ser>
          <c:idx val="0"/>
          <c:order val="0"/>
          <c:tx>
            <c:v>Top five by observed enrollment volume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I005</c:v>
                </c:pt>
                <c:pt idx="1">
                  <c:v>I010</c:v>
                </c:pt>
                <c:pt idx="2">
                  <c:v>I006</c:v>
                </c:pt>
                <c:pt idx="3">
                  <c:v>I008</c:v>
                </c:pt>
                <c:pt idx="4">
                  <c:v>I022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308</c:v>
                </c:pt>
                <c:pt idx="1">
                  <c:v>284</c:v>
                </c:pt>
                <c:pt idx="2">
                  <c:v>278</c:v>
                </c:pt>
                <c:pt idx="3">
                  <c:v>273</c:v>
                </c:pt>
                <c:pt idx="4">
                  <c:v>255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7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latin typeface="Nimbus Sans"/>
                <a:ea typeface="Nimbus Sans"/>
                <a:cs typeface="Nimbus Sans"/>
              </a:rPr>
              <a:t>Observed lead-to-enrollment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Nimbus Sans"/>
              <a:ea typeface="Nimbus Sans"/>
              <a:cs typeface="Nimbus Sans"/>
            </a:defRPr>
          </a:pPr>
        </a:p>
      </c:txPr>
    </c:title>
    <c:plotArea>
      <c:barChart>
        <c:barDir val="bar"/>
        <c:varyColors val="0"/>
        <c:ser>
          <c:idx val="0"/>
          <c:order val="0"/>
          <c:tx>
            <c:v>Observed lead-to-enrollment (%)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Karnataka</c:v>
                </c:pt>
                <c:pt idx="1">
                  <c:v>Rajasthan</c:v>
                </c:pt>
                <c:pt idx="2">
                  <c:v>Uttar Pradesh</c:v>
                </c:pt>
                <c:pt idx="3">
                  <c:v>West Bengal</c:v>
                </c:pt>
                <c:pt idx="4">
                  <c:v>Maharashtra</c:v>
                </c:pt>
                <c:pt idx="5">
                  <c:v>Tamil Nadu</c:v>
                </c:pt>
                <c:pt idx="6">
                  <c:v>Telangana</c:v>
                </c:pt>
                <c:pt idx="7">
                  <c:v>Delhi NCR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11.72859451</c:v>
                </c:pt>
                <c:pt idx="1">
                  <c:v>11.47175815</c:v>
                </c:pt>
                <c:pt idx="2">
                  <c:v>11.40981557</c:v>
                </c:pt>
                <c:pt idx="3">
                  <c:v>11.35513259</c:v>
                </c:pt>
                <c:pt idx="4">
                  <c:v>11.32166372</c:v>
                </c:pt>
                <c:pt idx="5">
                  <c:v>11.07579851</c:v>
                </c:pt>
                <c:pt idx="6">
                  <c:v>10.95737913</c:v>
                </c:pt>
                <c:pt idx="7">
                  <c:v>10.70965651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7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latin typeface="Nimbus Sans"/>
                <a:ea typeface="Nimbus Sans"/>
                <a:cs typeface="Nimbus Sans"/>
              </a:rPr>
              <a:t>Modeled enrollment equivalents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Nimbus Sans"/>
              <a:ea typeface="Nimbus Sans"/>
              <a:cs typeface="Nimbus Sans"/>
            </a:defRPr>
          </a:pPr>
        </a:p>
      </c:txPr>
    </c:title>
    <c:plotArea>
      <c:barChart>
        <c:barDir val="bar"/>
        <c:varyColors val="0"/>
        <c:ser>
          <c:idx val="0"/>
          <c:order val="0"/>
          <c:tx>
            <c:v>Modeled enrollment equivalents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Conservative</c:v>
                </c:pt>
                <c:pt idx="1">
                  <c:v>Base</c:v>
                </c:pt>
                <c:pt idx="2">
                  <c:v>Optimistic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302.23759103</c:v>
                </c:pt>
                <c:pt idx="1">
                  <c:v>377.79698879</c:v>
                </c:pt>
                <c:pt idx="2">
                  <c:v>444.46704563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7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ADB03565-0A04-49A6-ADE6-39CE9026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AdmissionFlow Intelligence: decisions from acquisition to enrollment</a:t>
            </a:r>
          </a:p>
        </p:txBody>
      </p:sp>
      <p:sp>
        <p:nvSpPr>
          <p:cNvPr id="2" name="source">
            <a:extLst xmlns:a="http://schemas.openxmlformats.org/drawingml/2006/main">
              <a:ext uri="{FF2B5EF4-FFF2-40B4-BE49-F238E27FC236}">
                <a16:creationId xmlns:a16="http://schemas.microsoft.com/office/drawing/2014/main" id="{F49C5899-48DA-4A55-850D-F99EEA55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rPr>
              <a:t>Portfolio simulation · CampusGrowth Analytics · Leadership review</a:t>
            </a:r>
          </a:p>
        </p:txBody>
      </p:sp>
      <p:sp>
        <p:nvSpPr>
          <p:cNvPr id="3" name="point-0">
            <a:extLst xmlns:a="http://schemas.openxmlformats.org/drawingml/2006/main">
              <a:ext uri="{FF2B5EF4-FFF2-40B4-BE49-F238E27FC236}">
                <a16:creationId xmlns:a16="http://schemas.microsoft.com/office/drawing/2014/main" id="{4507B3F5-CEDC-492A-BADA-DCA21096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Business challenge: connect institutional campaign spending to student progression and enrollment.</a:t>
            </a:r>
          </a:p>
        </p:txBody>
      </p:sp>
      <p:sp>
        <p:nvSpPr>
          <p:cNvPr id="4" name="point-1">
            <a:extLst xmlns:a="http://schemas.openxmlformats.org/drawingml/2006/main">
              <a:ext uri="{FF2B5EF4-FFF2-40B4-BE49-F238E27FC236}">
                <a16:creationId xmlns:a16="http://schemas.microsoft.com/office/drawing/2014/main" id="{DE9C4D11-9ED1-41BC-B43B-1D891799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Management workflow: monitor campaign efficiency, prioritize follow-up and produce consistent client reports.</a:t>
            </a:r>
          </a:p>
        </p:txBody>
      </p:sp>
      <p:sp>
        <p:nvSpPr>
          <p:cNvPr id="5" name="point-2">
            <a:extLst xmlns:a="http://schemas.openxmlformats.org/drawingml/2006/main">
              <a:ext uri="{FF2B5EF4-FFF2-40B4-BE49-F238E27FC236}">
                <a16:creationId xmlns:a16="http://schemas.microsoft.com/office/drawing/2014/main" id="{6A6FC8AB-A422-4B38-B15D-F8CFDBC9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Decision standard: use transparent metrics and controlled testing; synthetic associations are not real business impact.</a:t>
            </a:r>
          </a:p>
        </p:txBody>
      </p:sp>
    </p:spTree>
    <p:extLst>
      <p:ext uri="{BB962C8B-B14F-4D97-AF65-F5344CB8AC3E}">
        <p14:creationId xmlns:p14="http://schemas.microsoft.com/office/powerpoint/2010/main" val="19198709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1AE36F5-149C-4B3E-BDCF-744F251F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A reproducible simulation with explicit analytical boundaries</a:t>
            </a:r>
          </a:p>
        </p:txBody>
      </p:sp>
      <p:sp>
        <p:nvSpPr>
          <p:cNvPr id="2" name="source">
            <a:extLst xmlns:a="http://schemas.openxmlformats.org/drawingml/2006/main">
              <a:ext uri="{FF2B5EF4-FFF2-40B4-BE49-F238E27FC236}">
                <a16:creationId xmlns:a16="http://schemas.microsoft.com/office/drawing/2014/main" id="{59483EF3-1C22-4ADE-B8F7-93FE29B6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rPr>
              <a:t>Portfolio simulation · data/manifest.json · docs/METHODOLOGY.md</a:t>
            </a:r>
          </a:p>
        </p:txBody>
      </p:sp>
      <p:sp>
        <p:nvSpPr>
          <p:cNvPr id="3" name="point-0">
            <a:extLst xmlns:a="http://schemas.openxmlformats.org/drawingml/2006/main">
              <a:ext uri="{FF2B5EF4-FFF2-40B4-BE49-F238E27FC236}">
                <a16:creationId xmlns:a16="http://schemas.microsoft.com/office/drawing/2014/main" id="{6A522483-3D63-4B5D-AAD8-8D2AB9E9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50,000 leads · 24 fictional institutions · 120 campaign-months · 7 channels · 8 markets.</a:t>
            </a:r>
          </a:p>
        </p:txBody>
      </p:sp>
      <p:sp>
        <p:nvSpPr>
          <p:cNvPr id="4" name="point-1">
            <a:extLst xmlns:a="http://schemas.openxmlformats.org/drawingml/2006/main">
              <a:ext uri="{FF2B5EF4-FFF2-40B4-BE49-F238E27FC236}">
                <a16:creationId xmlns:a16="http://schemas.microsoft.com/office/drawing/2014/main" id="{657C2BB4-F098-424C-84AF-CE96F09E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Five relational tables, 12 SQL analyses and a fixed seed. Single primary campaign per lead prevents duplicated attribution.</a:t>
            </a:r>
          </a:p>
        </p:txBody>
      </p:sp>
      <p:sp>
        <p:nvSpPr>
          <p:cNvPr id="5" name="point-2">
            <a:extLst xmlns:a="http://schemas.openxmlformats.org/drawingml/2006/main">
              <a:ext uri="{FF2B5EF4-FFF2-40B4-BE49-F238E27FC236}">
                <a16:creationId xmlns:a16="http://schemas.microsoft.com/office/drawing/2014/main" id="{E5F18B45-6FE4-4B76-B23E-B529194B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2025 acquisition; outcomes through 31 December. Recent cohorts are incomplete; planner uses mature campaign-months only.</a:t>
            </a:r>
          </a:p>
        </p:txBody>
      </p:sp>
    </p:spTree>
    <p:extLst>
      <p:ext uri="{BB962C8B-B14F-4D97-AF65-F5344CB8AC3E}">
        <p14:creationId xmlns:p14="http://schemas.microsoft.com/office/powerpoint/2010/main" val="2121661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2FF72F9A-92EB-4C01-8BAA-93702F97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₹189.39 lakh spent; 5,627 confirmed enrollments observed</a:t>
            </a:r>
          </a:p>
        </p:txBody>
      </p:sp>
      <p:sp>
        <p:nvSpPr>
          <p:cNvPr id="2" name="source">
            <a:extLst xmlns:a="http://schemas.openxmlformats.org/drawingml/2006/main">
              <a:ext uri="{FF2B5EF4-FFF2-40B4-BE49-F238E27FC236}">
                <a16:creationId xmlns:a16="http://schemas.microsoft.com/office/drawing/2014/main" id="{32120E30-6EFF-42CE-A810-34F34B2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rPr>
              <a:t>Portfolio simulation · reports/kpis.json · all 2025 campaigns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0D2A643-90E4-4C26-B427-8C05C53F52D2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620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fcb8be5a584438"/>
          </a:graphicData>
        </a:graphic>
      </p:graphicFrame>
      <p:sp>
        <p:nvSpPr>
          <p:cNvPr id="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3BCF8E79-625B-4FD9-97FB-9929FD0B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00250"/>
            <a:ext cx="2952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11.25% lead-to-enrollment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₹3,366 per enrollment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89.4% budget utilization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No tuition revenue or ROI modeled.</a:t>
            </a:r>
          </a:p>
        </p:txBody>
      </p:sp>
    </p:spTree>
    <p:extLst>
      <p:ext uri="{BB962C8B-B14F-4D97-AF65-F5344CB8AC3E}">
        <p14:creationId xmlns:p14="http://schemas.microsoft.com/office/powerpoint/2010/main" val="1541441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C423E232-6D58-46EA-8247-68F7679B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6,323 started applications remain incomplete at the snapshot</a:t>
            </a:r>
          </a:p>
        </p:txBody>
      </p:sp>
      <p:sp>
        <p:nvSpPr>
          <p:cNvPr id="2" name="source">
            <a:extLst xmlns:a="http://schemas.openxmlformats.org/drawingml/2006/main">
              <a:ext uri="{FF2B5EF4-FFF2-40B4-BE49-F238E27FC236}">
                <a16:creationId xmlns:a16="http://schemas.microsoft.com/office/drawing/2014/main" id="{0E152025-4D17-4134-ADF9-A6DD7BAA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rPr>
              <a:t>Portfolio simulation · reports/03_unique_conversion.csv · all cohorts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3830FAF-D832-4D6B-9987-3104AE1AD84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620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c92460b7284edb"/>
          </a:graphicData>
        </a:graphic>
      </p:graphicFrame>
      <p:sp>
        <p:nvSpPr>
          <p:cNvPr id="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20A8068-D1E2-4E02-9AD8-FB2FFF28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00250"/>
            <a:ext cx="2952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68.6% of application starts are completed.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Investigate form friction and follow-up.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Recent students may still progress: this is not a final loss estimate.</a:t>
            </a:r>
          </a:p>
        </p:txBody>
      </p:sp>
    </p:spTree>
    <p:extLst>
      <p:ext uri="{BB962C8B-B14F-4D97-AF65-F5344CB8AC3E}">
        <p14:creationId xmlns:p14="http://schemas.microsoft.com/office/powerpoint/2010/main" val="19468153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46092477-5BD6-4F75-B0F6-991B03CD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Investigate C007 before committing additional budget</a:t>
            </a:r>
          </a:p>
        </p:txBody>
      </p:sp>
      <p:sp>
        <p:nvSpPr>
          <p:cNvPr id="2" name="source">
            <a:extLst xmlns:a="http://schemas.openxmlformats.org/drawingml/2006/main">
              <a:ext uri="{FF2B5EF4-FFF2-40B4-BE49-F238E27FC236}">
                <a16:creationId xmlns:a16="http://schemas.microsoft.com/office/drawing/2014/main" id="{68C82FE0-D985-4E5F-B4AD-73C0848B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rPr>
              <a:t>Portfolio simulation · reports/recommendations.csv · mature campaigns, ≥100 leads</a:t>
            </a:r>
          </a:p>
        </p:txBody>
      </p:sp>
      <p:sp>
        <p:nvSpPr>
          <p:cNvPr id="3" name="point-0">
            <a:extLst xmlns:a="http://schemas.openxmlformats.org/drawingml/2006/main">
              <a:ext uri="{FF2B5EF4-FFF2-40B4-BE49-F238E27FC236}">
                <a16:creationId xmlns:a16="http://schemas.microsoft.com/office/drawing/2014/main" id="{BFDDE797-E330-4020-9D36-1C6FBF0C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C007: 349 leads, 32 enrollments and ₹2.51 lakh spend. Historical cost per enrollment is ₹7,848.</a:t>
            </a:r>
          </a:p>
        </p:txBody>
      </p:sp>
      <p:sp>
        <p:nvSpPr>
          <p:cNvPr id="4" name="point-1">
            <a:extLst xmlns:a="http://schemas.openxmlformats.org/drawingml/2006/main">
              <a:ext uri="{FF2B5EF4-FFF2-40B4-BE49-F238E27FC236}">
                <a16:creationId xmlns:a16="http://schemas.microsoft.com/office/drawing/2014/main" id="{03F3FEE6-8A9C-427E-B766-D2292B6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Completed-application rate: 18.3%, compared with the mature pooled benchmark of 29.1%.</a:t>
            </a:r>
          </a:p>
        </p:txBody>
      </p:sp>
      <p:sp>
        <p:nvSpPr>
          <p:cNvPr id="5" name="point-2">
            <a:extLst xmlns:a="http://schemas.openxmlformats.org/drawingml/2006/main">
              <a:ext uri="{FF2B5EF4-FFF2-40B4-BE49-F238E27FC236}">
                <a16:creationId xmlns:a16="http://schemas.microsoft.com/office/drawing/2014/main" id="{9950A265-8065-4D2C-82E2-16997E49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Audit targeting, landing-page qualification and follow-up. Randomize a revised message test before making causal claims.</a:t>
            </a:r>
          </a:p>
        </p:txBody>
      </p:sp>
    </p:spTree>
    <p:extLst>
      <p:ext uri="{BB962C8B-B14F-4D97-AF65-F5344CB8AC3E}">
        <p14:creationId xmlns:p14="http://schemas.microsoft.com/office/powerpoint/2010/main" val="1009228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E6A00E87-079F-42F8-997C-55F1EA94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Institution reports connect client reviews to campaign evidence</a:t>
            </a:r>
          </a:p>
        </p:txBody>
      </p:sp>
      <p:sp>
        <p:nvSpPr>
          <p:cNvPr id="2" name="source">
            <a:extLst xmlns:a="http://schemas.openxmlformats.org/drawingml/2006/main">
              <a:ext uri="{FF2B5EF4-FFF2-40B4-BE49-F238E27FC236}">
                <a16:creationId xmlns:a16="http://schemas.microsoft.com/office/drawing/2014/main" id="{B6363F0D-CEDB-4EE9-802C-767AA612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rPr>
              <a:t>Portfolio simulation · reports/session2/institutions · all 2025 cohorts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10E5969-E3B3-4FB0-A64D-2F1DE9C6076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620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378ce96bec4f00"/>
          </a:graphicData>
        </a:graphic>
      </p:graphicFrame>
      <p:sp>
        <p:nvSpPr>
          <p:cNvPr id="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0CA82F70-FAD6-4772-8D81-998039F2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00250"/>
            <a:ext cx="2952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Volume reflects campaign allocation as well as conversion.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Compare cost per application and enrollment alongside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Export institution HTML and CSV packs from the app.</a:t>
            </a:r>
          </a:p>
        </p:txBody>
      </p:sp>
    </p:spTree>
    <p:extLst>
      <p:ext uri="{BB962C8B-B14F-4D97-AF65-F5344CB8AC3E}">
        <p14:creationId xmlns:p14="http://schemas.microsoft.com/office/powerpoint/2010/main" val="1688560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AB8B6284-E5B2-4482-A2BD-45D93768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Territory differences guide investigation, not market claims</a:t>
            </a:r>
          </a:p>
        </p:txBody>
      </p:sp>
      <p:sp>
        <p:nvSpPr>
          <p:cNvPr id="2" name="source">
            <a:extLst xmlns:a="http://schemas.openxmlformats.org/drawingml/2006/main">
              <a:ext uri="{FF2B5EF4-FFF2-40B4-BE49-F238E27FC236}">
                <a16:creationId xmlns:a16="http://schemas.microsoft.com/office/drawing/2014/main" id="{8F4E3441-CE80-46DA-B089-F1A744A9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rPr>
              <a:t>Portfolio simulation · reports/session2/geography.csv · all cohorts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8ADDED9-B40E-4187-8610-5B501F9722B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620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223cfa6c834de8"/>
          </a:graphicData>
        </a:graphic>
      </p:graphicFrame>
      <p:sp>
        <p:nvSpPr>
          <p:cNvPr id="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D2B46C1C-8532-4FC5-A1B1-FC58B6A2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00250"/>
            <a:ext cx="2952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Fictional population and simulated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Review mix and maturity before comparing territories.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Geographic cost efficiency is unavailable without delivery-level spend.</a:t>
            </a:r>
          </a:p>
        </p:txBody>
      </p:sp>
    </p:spTree>
    <p:extLst>
      <p:ext uri="{BB962C8B-B14F-4D97-AF65-F5344CB8AC3E}">
        <p14:creationId xmlns:p14="http://schemas.microsoft.com/office/powerpoint/2010/main" val="886449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F417D120-211E-4FAA-BE38-AC9D47EC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A ₹10 lakh planning budget supports explicit cost scenarios</a:t>
            </a:r>
          </a:p>
        </p:txBody>
      </p:sp>
      <p:sp>
        <p:nvSpPr>
          <p:cNvPr id="2" name="source">
            <a:extLst xmlns:a="http://schemas.openxmlformats.org/drawingml/2006/main">
              <a:ext uri="{FF2B5EF4-FFF2-40B4-BE49-F238E27FC236}">
                <a16:creationId xmlns:a16="http://schemas.microsoft.com/office/drawing/2014/main" id="{84CE5EC8-5C27-4443-84F0-E0FA55F5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rPr>
              <a:t>Portfolio simulation · src/budget.py · mature history · 5% floor / 25% cap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0C81114-7AA1-46EC-ACE8-E9C6121E0465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620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c66f68974a4c45"/>
          </a:graphicData>
        </a:graphic>
      </p:graphicFrame>
      <p:sp>
        <p:nvSpPr>
          <p:cNvPr id="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43510C06-515B-4083-94CF-1E9D6E4A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00250"/>
            <a:ext cx="2952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Cost assumptions:</a:t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+25% / unchanged / −15%.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Lower historical CPE gets priority within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Constant efficiency; no saturation or incremental lift modeled.</a:t>
            </a:r>
          </a:p>
        </p:txBody>
      </p:sp>
    </p:spTree>
    <p:extLst>
      <p:ext uri="{BB962C8B-B14F-4D97-AF65-F5344CB8AC3E}">
        <p14:creationId xmlns:p14="http://schemas.microsoft.com/office/powerpoint/2010/main" val="1561632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0B26C449-5F7E-4A89-902C-ADA4D107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A practical operating cadence for campaign management</a:t>
            </a:r>
          </a:p>
        </p:txBody>
      </p:sp>
      <p:sp>
        <p:nvSpPr>
          <p:cNvPr id="2" name="source">
            <a:extLst xmlns:a="http://schemas.openxmlformats.org/drawingml/2006/main">
              <a:ext uri="{FF2B5EF4-FFF2-40B4-BE49-F238E27FC236}">
                <a16:creationId xmlns:a16="http://schemas.microsoft.com/office/drawing/2014/main" id="{25E13798-DE1C-43CA-8ED0-7B2EF7DE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rPr>
              <a:t>Portfolio simulation · Metric-backed investigation rules · portfolio recommendations</a:t>
            </a:r>
          </a:p>
        </p:txBody>
      </p:sp>
      <p:sp>
        <p:nvSpPr>
          <p:cNvPr id="3" name="point-0">
            <a:extLst xmlns:a="http://schemas.openxmlformats.org/drawingml/2006/main">
              <a:ext uri="{FF2B5EF4-FFF2-40B4-BE49-F238E27FC236}">
                <a16:creationId xmlns:a16="http://schemas.microsoft.com/office/drawing/2014/main" id="{48D98F74-EACB-46FB-B824-D995A50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Weekly: review mature campaign flags, qualify high-cost leads and assign ownership for incomplete applications.</a:t>
            </a:r>
          </a:p>
        </p:txBody>
      </p:sp>
      <p:sp>
        <p:nvSpPr>
          <p:cNvPr id="4" name="point-1">
            <a:extLst xmlns:a="http://schemas.openxmlformats.org/drawingml/2006/main">
              <a:ext uri="{FF2B5EF4-FFF2-40B4-BE49-F238E27FC236}">
                <a16:creationId xmlns:a16="http://schemas.microsoft.com/office/drawing/2014/main" id="{D5754E99-EF41-4288-95FF-8D7E21F0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Monthly: reconcile SQL, Python and Excel; share scoped institutional reports and distinguish recent cohorts.</a:t>
            </a:r>
          </a:p>
        </p:txBody>
      </p:sp>
      <p:sp>
        <p:nvSpPr>
          <p:cNvPr id="5" name="point-2">
            <a:extLst xmlns:a="http://schemas.openxmlformats.org/drawingml/2006/main">
              <a:ext uri="{FF2B5EF4-FFF2-40B4-BE49-F238E27FC236}">
                <a16:creationId xmlns:a16="http://schemas.microsoft.com/office/drawing/2014/main" id="{94BA28E7-76DE-4140-8013-5FDC1224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Before reallocating: validate capacity and lead quality, then run a controlled channel or campaign test with a defined success metric.</a:t>
            </a:r>
          </a:p>
        </p:txBody>
      </p:sp>
    </p:spTree>
    <p:extLst>
      <p:ext uri="{BB962C8B-B14F-4D97-AF65-F5344CB8AC3E}">
        <p14:creationId xmlns:p14="http://schemas.microsoft.com/office/powerpoint/2010/main" val="14397085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2D64B1D-72AF-42F9-AD64-A2BB59D0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Use the platform as a tested case study, then validate in practice</a:t>
            </a:r>
          </a:p>
        </p:txBody>
      </p:sp>
      <p:sp>
        <p:nvSpPr>
          <p:cNvPr id="2" name="source">
            <a:extLst xmlns:a="http://schemas.openxmlformats.org/drawingml/2006/main">
              <a:ext uri="{FF2B5EF4-FFF2-40B4-BE49-F238E27FC236}">
                <a16:creationId xmlns:a16="http://schemas.microsoft.com/office/drawing/2014/main" id="{D15E9166-1004-4504-88CC-CD8ABF4E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6657A"/>
                </a:solidFill>
                <a:latin typeface="Nimbus Sans"/>
                <a:ea typeface="Nimbus Sans"/>
                <a:cs typeface="Nimbus Sans"/>
              </a:rPr>
              <a:t>Portfolio simulation · Methodology and handoff documentation</a:t>
            </a:r>
          </a:p>
        </p:txBody>
      </p:sp>
      <p:sp>
        <p:nvSpPr>
          <p:cNvPr id="3" name="point-0">
            <a:extLst xmlns:a="http://schemas.openxmlformats.org/drawingml/2006/main">
              <a:ext uri="{FF2B5EF4-FFF2-40B4-BE49-F238E27FC236}">
                <a16:creationId xmlns:a16="http://schemas.microsoft.com/office/drawing/2014/main" id="{FBA2F12B-0FE1-436E-AC88-D945502F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Delivered: seven dashboard pages, scenario planner, institution exports, Excel reporting and a reproducible SQL/Python pipeline.</a:t>
            </a:r>
          </a:p>
        </p:txBody>
      </p:sp>
      <p:sp>
        <p:nvSpPr>
          <p:cNvPr id="4" name="point-1">
            <a:extLst xmlns:a="http://schemas.openxmlformats.org/drawingml/2006/main">
              <a:ext uri="{FF2B5EF4-FFF2-40B4-BE49-F238E27FC236}">
                <a16:creationId xmlns:a16="http://schemas.microsoft.com/office/drawing/2014/main" id="{2C9AA7D3-B4ED-4557-B677-3B441E5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Limits: synthetic outcomes, primary-touch attribution, right censoring and constant-efficiency planning. No demonstrated financial return.</a:t>
            </a:r>
          </a:p>
        </p:txBody>
      </p:sp>
      <p:sp>
        <p:nvSpPr>
          <p:cNvPr id="5" name="point-2">
            <a:extLst xmlns:a="http://schemas.openxmlformats.org/drawingml/2006/main">
              <a:ext uri="{FF2B5EF4-FFF2-40B4-BE49-F238E27FC236}">
                <a16:creationId xmlns:a16="http://schemas.microsoft.com/office/drawing/2014/main" id="{4F281FA0-7022-40EE-AA3D-FB8918BD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82B49"/>
                </a:solidFill>
                <a:latin typeface="Nimbus Sans"/>
                <a:ea typeface="Nimbus Sans"/>
                <a:cs typeface="Nimbus Sans"/>
              </a:rPr>
              <a:t>Next: connect a consented CRM extract, add delivery-grain costs and estimate response curves only after adequate experiments.</a:t>
            </a:r>
          </a:p>
        </p:txBody>
      </p:sp>
    </p:spTree>
    <p:extLst>
      <p:ext uri="{BB962C8B-B14F-4D97-AF65-F5344CB8AC3E}">
        <p14:creationId xmlns:p14="http://schemas.microsoft.com/office/powerpoint/2010/main" val="515537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2026-10-18T19:39:23.2130000Z</dcterms:created>
  <dcterms:modified xsi:type="dcterms:W3CDTF">2026-10-18T19:39:23.2130000Z</dcterms:modified>
</coreProperties>
</file>